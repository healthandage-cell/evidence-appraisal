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TIR gain</c:v>
                </c:pt>
              </c:strCache>
            </c:strRef>
          </c:tx>
          <c:spPr>
            <a:solidFill>
              <a:srgbClr val="0E5A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2E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5A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8F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B2B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A59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MiniMed 780G</c:v>
                  </c:pt>
                  <c:pt idx="1">
                    <c:v>Control-IQ</c:v>
                  </c:pt>
                  <c:pt idx="2">
                    <c:v>MiniMed 670G</c:v>
                  </c:pt>
                  <c:pt idx="3">
                    <c:v>CamAPS Fx</c:v>
                  </c:pt>
                  <c:pt idx="4">
                    <c:v>DBLG1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21.6</c:v>
                </c:pt>
                <c:pt idx="1">
                  <c:v>16.5</c:v>
                </c:pt>
                <c:pt idx="2">
                  <c:v>14.1</c:v>
                </c:pt>
                <c:pt idx="3">
                  <c:v>12.6</c:v>
                </c:pt>
                <c:pt idx="4">
                  <c:v>10.9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2E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E72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108960"/>
            <a:ext cx="5669280" cy="5669280"/>
          </a:xfrm>
          <a:prstGeom prst="ellipse">
            <a:avLst/>
          </a:prstGeom>
          <a:solidFill>
            <a:srgbClr val="0E5A6B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663440"/>
            <a:ext cx="3108960" cy="3108960"/>
          </a:xfrm>
          <a:prstGeom prst="ellipse">
            <a:avLst/>
          </a:prstGeom>
          <a:solidFill>
            <a:srgbClr val="1FA59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EXPLAINER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Teaching AI to do expert work — reliably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AI “skill” is, how it actually works, and why it turns scarce expert judgement into a reusable, governable asset — shown on a real, working example.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retraining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only when needed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&amp; auditable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126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Yvonne  ·  Health Economics &amp; Value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exactly is an AI “skill”?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instruction pack that makes a general AI assistant reliably good at one specific expert task — without building or retraining a model.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45429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651760"/>
            <a:ext cx="658368" cy="658368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517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814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use it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84048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description so the assistant knows to reach for it — e.g. “appraise this systematic review.”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68698" y="2331720"/>
            <a:ext cx="345429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88738" y="2651760"/>
            <a:ext cx="658368" cy="658368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12" name="Text 10"/>
          <p:cNvSpPr/>
          <p:nvPr/>
        </p:nvSpPr>
        <p:spPr>
          <a:xfrm>
            <a:off x="4688738" y="26517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88738" y="3429000"/>
            <a:ext cx="2814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do it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88738" y="384048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step-by-step workflow: read the document, detect its type, apply the right checklist, write the report.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8757" y="2331720"/>
            <a:ext cx="345429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08797" y="2651760"/>
            <a:ext cx="658368" cy="658368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17" name="Text 15"/>
          <p:cNvSpPr/>
          <p:nvPr/>
        </p:nvSpPr>
        <p:spPr>
          <a:xfrm>
            <a:off x="8508797" y="26517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508797" y="3429000"/>
            <a:ext cx="2814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expertise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08797" y="384048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files holding the actual PRISMA, ROBIS and AMSTAR-2 rules — the method, written down.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11094415" cy="1051560"/>
          </a:xfrm>
          <a:prstGeom prst="roundRect">
            <a:avLst>
              <a:gd name="adj" fmla="val 7826"/>
            </a:avLst>
          </a:prstGeom>
          <a:solidFill>
            <a:srgbClr val="E7F1F0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89204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Standard Operating Procedure the AI follows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same rigorous, transparent process on every document, whoever runs it.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actually works — under the hood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1860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84248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new model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04872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expert instructions plus reference knowledge layered onto the assistant we already use. No retraining, no data-science project, no new infrastructure.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24448" y="1783080"/>
            <a:ext cx="531860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44488" y="1984248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Loaded only when needed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44488" y="2404872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sees a one-line summary of each available skill and pulls in the full checklist only when your request matches — efficient by design.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730752"/>
            <a:ext cx="531860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3931920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Grounded, not improvised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4352544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follows the actual PRISMA and AMSTAR-2 rules we wrote, treated as the source of truth — rather than relying on the model's memory or guessing.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24448" y="3730752"/>
            <a:ext cx="531860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44488" y="3931920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Transparent &amp; governable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44488" y="4352544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is written in plain language: readable, versionable, auditable, improvable. The opposite of a black box — we own the logic.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algn="ctr" indent="0" marL="0">
              <a:buNone/>
            </a:pPr>
            <a:r>
              <a:rPr lang="en-US" sz="1500" i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as configuration — you can read every rule the AI follows.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STRATEGIC ANGLE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beyond one task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5429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9456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 judgement is scarce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92608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Appraising evidence well needs senior methodologists — a bottleneck on every dossier, manuscript and study we run.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68698" y="1920240"/>
            <a:ext cx="345429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88738" y="219456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locked in people's heads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88738" y="292608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expert is busy or moves on, the capability goes too. Two reviewers reach different verdicts.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88757" y="1920240"/>
            <a:ext cx="345429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508797" y="219456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skill makes it an asset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08797" y="292608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the method once; every team runs it the same way, indefinitely. Institutional knowledge that compounds.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43484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0E2E36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45262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3200400" y="4526280"/>
            <a:ext cx="8076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items across three expert tools</a:t>
            </a: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now a single repeatable process: the same senior-level rigor, on demand, at scale, with the working shown.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EXAMPLE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built: an evidence-appraisal skill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by a colleague — it checks clinical protocols and manuscripts against the standard appraisal tools.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39641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4505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907792"/>
            <a:ext cx="19392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91840"/>
            <a:ext cx="19392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the PDF or Word document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9918" y="2286000"/>
            <a:ext cx="411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447974" y="2286000"/>
            <a:ext cx="239641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76574" y="24505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76574" y="2907792"/>
            <a:ext cx="19392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76574" y="3291840"/>
            <a:ext cx="19392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what kind of document it is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899252" y="2286000"/>
            <a:ext cx="411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347308" y="2286000"/>
            <a:ext cx="239641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75908" y="24505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75908" y="2907792"/>
            <a:ext cx="19392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75908" y="3291840"/>
            <a:ext cx="19392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appraisal tool(s)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798585" y="2286000"/>
            <a:ext cx="411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246641" y="2286000"/>
            <a:ext cx="239641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475241" y="24505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475241" y="2907792"/>
            <a:ext cx="19392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475241" y="3291840"/>
            <a:ext cx="19392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Item-by-item verdict + ranked gaps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4434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expert tools built in: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8006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E5A6B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8006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2020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194560" y="480060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0E5A6B"/>
          </a:solidFill>
          <a:ln/>
        </p:spPr>
      </p:sp>
      <p:sp>
        <p:nvSpPr>
          <p:cNvPr id="28" name="Text 26"/>
          <p:cNvSpPr/>
          <p:nvPr/>
        </p:nvSpPr>
        <p:spPr>
          <a:xfrm>
            <a:off x="2194560" y="4800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PRISMA-NMA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48006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3749040" y="480060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983480" y="480060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4983480" y="4800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AMSTAR-2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55080" y="480060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FA598"/>
          </a:solidFill>
          <a:ln/>
        </p:spPr>
      </p:sp>
      <p:sp>
        <p:nvSpPr>
          <p:cNvPr id="34" name="Text 32"/>
          <p:cNvSpPr/>
          <p:nvPr/>
        </p:nvSpPr>
        <p:spPr>
          <a:xfrm>
            <a:off x="6355080" y="4800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PRISMA-P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26680" y="48006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1FA598"/>
          </a:solidFill>
          <a:ln/>
        </p:spPr>
      </p:sp>
      <p:sp>
        <p:nvSpPr>
          <p:cNvPr id="36" name="Text 34"/>
          <p:cNvSpPr/>
          <p:nvPr/>
        </p:nvSpPr>
        <p:spPr>
          <a:xfrm>
            <a:off x="7726680" y="48006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 2013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372600" y="480060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A598"/>
          </a:solidFill>
          <a:ln/>
        </p:spPr>
      </p:sp>
      <p:sp>
        <p:nvSpPr>
          <p:cNvPr id="38" name="Text 36"/>
          <p:cNvSpPr/>
          <p:nvPr/>
        </p:nvSpPr>
        <p:spPr>
          <a:xfrm>
            <a:off x="9372600" y="4800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 2010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checklists tell you if a study is fully written up; ROBIS and AMSTAR-2 tell you if it can be trusted.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DECIDES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picks the right tool for the document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the skill applies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A6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review / meta-analysis manuscript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PRISMA 2020  +  ROBIS  +  AMSTAR-2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meta-analysis (indirect comparisons)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…the above  +  PRISMA-NMA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review protocol (PROSPERO-style)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PRISMA-P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trial 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SPIRIT 2013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randomised trial report (single RCT)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CONSORT 2010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94960"/>
            <a:ext cx="11094415" cy="868680"/>
          </a:xfrm>
          <a:prstGeom prst="roundRect">
            <a:avLst>
              <a:gd name="adj" fmla="val 9474"/>
            </a:avLst>
          </a:prstGeom>
          <a:solidFill>
            <a:srgbClr val="FBF1E4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539496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C6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Judgement, encoded: 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wrong checklist is a genuine error — the skill makes the expert's routing decision automatically, every time, so no one has to remember.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CAPTURES REAL NUANCE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knows a distinction experts know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18608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4884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fully reported?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Author-side completeness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2020  ·  PRISMA-NMA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PRISMA-P  ·  SPIRIT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authors describe the methods, search and results transparently enough to reproduce?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24448" y="1874520"/>
            <a:ext cx="5318608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90208" y="214884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it be trusted?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690208" y="2606040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Appraiser-side quality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90208" y="301752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ROBIS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AMSTAR-2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the review conducted well enough that its conclusions are reliable and low-risk-of-bias?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937760"/>
            <a:ext cx="11094415" cy="960120"/>
          </a:xfrm>
          <a:prstGeom prst="roundRect">
            <a:avLst>
              <a:gd name="adj" fmla="val 8571"/>
            </a:avLst>
          </a:prstGeom>
          <a:solidFill>
            <a:srgbClr val="0E2E36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93776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can be beautifully written yet still at high risk of bias.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 keeps these two questions apart — so we never mistake good writing for good evidence.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ON A REAL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on a live network meta-analysis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Molfetta et al. 2024 — hybrid closed-loop systems in people with type 1 diabetes (28 RCTs).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126480" cy="39776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94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gain in Time-in-Range vs standard insulin therapy (%)</a:t>
            </a:r>
            <a:endParaRPr lang="en-US" sz="12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2743200"/>
          <a:ext cx="58064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2011680"/>
            <a:ext cx="4693615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223760" y="2423160"/>
            <a:ext cx="365760" cy="365760"/>
          </a:xfrm>
          <a:prstGeom prst="ellipse">
            <a:avLst/>
          </a:prstGeom>
          <a:solidFill>
            <a:srgbClr val="1FA598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2212848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 2020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772400" y="2615184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reporting completeness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949440" y="3383280"/>
            <a:ext cx="4693615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223760" y="3794760"/>
            <a:ext cx="365760" cy="365760"/>
          </a:xfrm>
          <a:prstGeom prst="ellipse">
            <a:avLst/>
          </a:prstGeom>
          <a:solidFill>
            <a:srgbClr val="1FA598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3584448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ROBIS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772400" y="3986784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of bias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949440" y="4754880"/>
            <a:ext cx="4693615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23760" y="5166360"/>
            <a:ext cx="365760" cy="365760"/>
          </a:xfrm>
          <a:prstGeom prst="ellipse">
            <a:avLst/>
          </a:prstGeom>
          <a:solidFill>
            <a:srgbClr val="C67A22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0" y="4956048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AMSTAR-2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7772400" y="5358384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confidence (confirmed)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TRUSTED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enough for a payer to scrutinise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400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itself is the proof.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flagged a strong review as “Low confidence.” Instead of accepting or guessing, it fetched and read the paper's ~8,000-line supplement to confirm the one missing item — then reported exactly what it could and could not verify.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i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behaviour a leader needs from AI on high-stakes work: no bluffing.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223760" y="1828800"/>
            <a:ext cx="4419295" cy="4114800"/>
          </a:xfrm>
          <a:prstGeom prst="roundRect">
            <a:avLst>
              <a:gd name="adj" fmla="val 2000"/>
            </a:avLst>
          </a:prstGeom>
          <a:solidFill>
            <a:srgbClr val="E7F1F0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43800" y="2103120"/>
            <a:ext cx="3779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keep AI honest here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43800" y="2697480"/>
            <a:ext cx="37792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its working — every verdict cites the section it came from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the real checklists, not the model's memory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what it could not verify, rather than filling the gap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rules anyone can read and audit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HELPS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skill, three kinds of team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54298" cy="4069080"/>
          </a:xfrm>
          <a:prstGeom prst="roundRect">
            <a:avLst>
              <a:gd name="adj" fmla="val 23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74520"/>
            <a:ext cx="3454298" cy="777240"/>
          </a:xfrm>
          <a:prstGeom prst="roundRect">
            <a:avLst>
              <a:gd name="adj" fmla="val 10588"/>
            </a:avLst>
          </a:prstGeom>
          <a:solidFill>
            <a:srgbClr val="0E5A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Study Planning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8599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Appraise trial protocols against SPIRIT before they are finalised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systematic-review protocols with PRISMA-P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studies that pre-empt the critiques reviewers raise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8698" y="1874520"/>
            <a:ext cx="3454298" cy="4069080"/>
          </a:xfrm>
          <a:prstGeom prst="roundRect">
            <a:avLst>
              <a:gd name="adj" fmla="val 23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68698" y="1874520"/>
            <a:ext cx="3454298" cy="777240"/>
          </a:xfrm>
          <a:prstGeom prst="roundRect">
            <a:avLst>
              <a:gd name="adj" fmla="val 10588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4643018" y="187452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Manuscript Writing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88738" y="2834640"/>
            <a:ext cx="28599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SR / meta-analysis drafts against PRISMA 2020 pre-submission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AMSTAR-2 and ROBIS pitfalls reviewers flag — in advance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flow diagram and excluded-studies list every 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8757" y="1874520"/>
            <a:ext cx="3454298" cy="4069080"/>
          </a:xfrm>
          <a:prstGeom prst="roundRect">
            <a:avLst>
              <a:gd name="adj" fmla="val 23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88757" y="1874520"/>
            <a:ext cx="3454298" cy="777240"/>
          </a:xfrm>
          <a:prstGeom prst="roundRect">
            <a:avLst>
              <a:gd name="adj" fmla="val 10588"/>
            </a:avLst>
          </a:prstGeom>
          <a:solidFill>
            <a:srgbClr val="1FA598"/>
          </a:solidFill>
          <a:ln/>
        </p:spPr>
      </p:sp>
      <p:sp>
        <p:nvSpPr>
          <p:cNvPr id="14" name="Text 12"/>
          <p:cNvSpPr/>
          <p:nvPr/>
        </p:nvSpPr>
        <p:spPr>
          <a:xfrm>
            <a:off x="8463077" y="187452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Reimbursement &amp; HTA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508797" y="2834640"/>
            <a:ext cx="28599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Critically appraise published reviews for evidence tables and umbrella reviews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consistent, defensible quality ratings for dossiers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low-confidence evidence to payers transparently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EVIDENCE CURRENT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 also keep the evidence live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skill re-runs on a schedule — so a review never goes stale between manual refreshes.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962851" cy="2286000"/>
          </a:xfrm>
          <a:prstGeom prst="roundRect">
            <a:avLst>
              <a:gd name="adj" fmla="val 41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28314" y="2377440"/>
            <a:ext cx="603504" cy="603504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7" name="Text 5"/>
          <p:cNvSpPr/>
          <p:nvPr/>
        </p:nvSpPr>
        <p:spPr>
          <a:xfrm>
            <a:off x="1228314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31089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search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Aug 2023 to today, using the published strategy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29779" y="2148840"/>
            <a:ext cx="3017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831531" y="2148840"/>
            <a:ext cx="1962851" cy="2286000"/>
          </a:xfrm>
          <a:prstGeom prst="roundRect">
            <a:avLst>
              <a:gd name="adj" fmla="val 41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11205" y="2377440"/>
            <a:ext cx="603504" cy="603504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13" name="Text 11"/>
          <p:cNvSpPr/>
          <p:nvPr/>
        </p:nvSpPr>
        <p:spPr>
          <a:xfrm>
            <a:off x="3511205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968691" y="31089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new RCTs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968691" y="36118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780G, Omnipod 5, CamAPS &amp; Control-IQ trials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12670" y="2148840"/>
            <a:ext cx="3017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5114422" y="2148840"/>
            <a:ext cx="1962851" cy="2286000"/>
          </a:xfrm>
          <a:prstGeom prst="roundRect">
            <a:avLst>
              <a:gd name="adj" fmla="val 41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94096" y="2377440"/>
            <a:ext cx="603504" cy="603504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19" name="Text 17"/>
          <p:cNvSpPr/>
          <p:nvPr/>
        </p:nvSpPr>
        <p:spPr>
          <a:xfrm>
            <a:off x="5794096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251582" y="31089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 outcomes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251582" y="36118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Time-in-Range, time-below-range, safety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95561" y="2148840"/>
            <a:ext cx="3017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7397313" y="2148840"/>
            <a:ext cx="1962851" cy="2286000"/>
          </a:xfrm>
          <a:prstGeom prst="roundRect">
            <a:avLst>
              <a:gd name="adj" fmla="val 41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76987" y="2377440"/>
            <a:ext cx="603504" cy="603504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25" name="Text 23"/>
          <p:cNvSpPr/>
          <p:nvPr/>
        </p:nvSpPr>
        <p:spPr>
          <a:xfrm>
            <a:off x="8076987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534473" y="31089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Refresh analysis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534473" y="36118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the meta-analysis, rankings, certainty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378452" y="2148840"/>
            <a:ext cx="3017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9680204" y="2148840"/>
            <a:ext cx="1962851" cy="2286000"/>
          </a:xfrm>
          <a:prstGeom prst="roundRect">
            <a:avLst>
              <a:gd name="adj" fmla="val 41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359878" y="2377440"/>
            <a:ext cx="603504" cy="603504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31" name="Text 29"/>
          <p:cNvSpPr/>
          <p:nvPr/>
        </p:nvSpPr>
        <p:spPr>
          <a:xfrm>
            <a:off x="10359878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817364" y="31089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Re-appraise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9817364" y="36118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PRISMA / ROBIS / AMSTAR-2 automatically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89204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E7F1F0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14400" y="489204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start: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authors have already published a 2026 update — a fast benchmark for our refresh — and it plugs straight into our existing living-review monitoring pipelines.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5029200" cy="5029200"/>
          </a:xfrm>
          <a:prstGeom prst="ellipse">
            <a:avLst/>
          </a:prstGeom>
          <a:solidFill>
            <a:srgbClr val="0E5A6B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BIGGER PICTURE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one skill to a library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55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 skill is a template. The same approach can encode any repeatable expert workflow — search strategies, data extraction, dossier sections, guideline checks — into a governed library every team draws on.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3520440"/>
            <a:ext cx="2533574" cy="1417320"/>
          </a:xfrm>
          <a:prstGeom prst="roundRect">
            <a:avLst>
              <a:gd name="adj" fmla="val 5161"/>
            </a:avLst>
          </a:prstGeom>
          <a:solidFill>
            <a:srgbClr val="16414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675888"/>
            <a:ext cx="20763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Reusable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4096512"/>
            <a:ext cx="20763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method, every team, indefinitely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02254" y="3520440"/>
            <a:ext cx="2533574" cy="1417320"/>
          </a:xfrm>
          <a:prstGeom prst="roundRect">
            <a:avLst>
              <a:gd name="adj" fmla="val 5161"/>
            </a:avLst>
          </a:prstGeom>
          <a:solidFill>
            <a:srgbClr val="16414B"/>
          </a:solidFill>
          <a:ln/>
        </p:spPr>
      </p:sp>
      <p:sp>
        <p:nvSpPr>
          <p:cNvPr id="10" name="Text 8"/>
          <p:cNvSpPr/>
          <p:nvPr/>
        </p:nvSpPr>
        <p:spPr>
          <a:xfrm>
            <a:off x="3630854" y="3675888"/>
            <a:ext cx="20763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630854" y="4096512"/>
            <a:ext cx="20763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Readable, versioned, auditable rules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3520440"/>
            <a:ext cx="2533574" cy="1417320"/>
          </a:xfrm>
          <a:prstGeom prst="roundRect">
            <a:avLst>
              <a:gd name="adj" fmla="val 5161"/>
            </a:avLst>
          </a:prstGeom>
          <a:solidFill>
            <a:srgbClr val="16414B"/>
          </a:solidFill>
          <a:ln/>
        </p:spPr>
      </p:sp>
      <p:sp>
        <p:nvSpPr>
          <p:cNvPr id="13" name="Text 11"/>
          <p:cNvSpPr/>
          <p:nvPr/>
        </p:nvSpPr>
        <p:spPr>
          <a:xfrm>
            <a:off x="6484468" y="3675888"/>
            <a:ext cx="20763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84468" y="4096512"/>
            <a:ext cx="20763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new skill adds to the library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09481" y="3520440"/>
            <a:ext cx="2533574" cy="1417320"/>
          </a:xfrm>
          <a:prstGeom prst="roundRect">
            <a:avLst>
              <a:gd name="adj" fmla="val 5161"/>
            </a:avLst>
          </a:prstGeom>
          <a:solidFill>
            <a:srgbClr val="16414B"/>
          </a:solidFill>
          <a:ln/>
        </p:spPr>
      </p:sp>
      <p:sp>
        <p:nvSpPr>
          <p:cNvPr id="16" name="Text 14"/>
          <p:cNvSpPr/>
          <p:nvPr/>
        </p:nvSpPr>
        <p:spPr>
          <a:xfrm>
            <a:off x="9338081" y="3675888"/>
            <a:ext cx="20763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black box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338081" y="4096512"/>
            <a:ext cx="20763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own and can inspect the logic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   </a:t>
            </a:r>
            <a:pPr indent="0" marL="0">
              <a:buNone/>
            </a:pPr>
            <a:r>
              <a:rPr lang="en-US" sz="15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on a review  ·  adapt the checklists to your field  ·  share improvements back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Yvonne  ·  Health Economics &amp; Value  ·  Open to feedback &amp; contributions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Evidence-Appraisal Skill — Explainer</dc:title>
  <dc:subject>PptxGenJS Presentation</dc:subject>
  <dc:creator>Yvonne</dc:creator>
  <cp:lastModifiedBy>Yvonne</cp:lastModifiedBy>
  <cp:revision>1</cp:revision>
  <dcterms:created xsi:type="dcterms:W3CDTF">2026-07-11T10:01:17Z</dcterms:created>
  <dcterms:modified xsi:type="dcterms:W3CDTF">2026-07-11T10:01:17Z</dcterms:modified>
</cp:coreProperties>
</file>